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3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5" r:id="rId31"/>
    <p:sldId id="284" r:id="rId32"/>
  </p:sldIdLst>
  <p:sldSz cx="12192000" cy="6858000"/>
  <p:notesSz cx="6858000" cy="9144000"/>
  <p:embeddedFontLst>
    <p:embeddedFont>
      <p:font typeface="Book Antiqua" panose="02040602050305030304" pitchFamily="18" charset="0"/>
      <p:regular r:id="rId34"/>
      <p:bold r:id="rId35"/>
      <p:italic r:id="rId36"/>
      <p:boldItalic r:id="rId37"/>
    </p:embeddedFont>
    <p:embeddedFont>
      <p:font typeface="Geo" panose="020B0604020202020204"/>
      <p:regular r:id="rId38"/>
      <p: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jO1e7ce8R+zLXqbIqWUJqFN44W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53F693-1B67-4F08-9C9D-BA3F5884F149}">
  <a:tblStyle styleId="{D453F693-1B67-4F08-9C9D-BA3F5884F149}" styleName="Table_0">
    <a:wholeTbl>
      <a:tcTxStyle b="off" i="off">
        <a:font>
          <a:latin typeface="Speak Pro"/>
          <a:ea typeface="Speak Pro"/>
          <a:cs typeface="Speak Pro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F2E7"/>
          </a:solidFill>
        </a:fill>
      </a:tcStyle>
    </a:wholeTbl>
    <a:band1H>
      <a:tcTxStyle/>
      <a:tcStyle>
        <a:tcBdr/>
        <a:fill>
          <a:solidFill>
            <a:srgbClr val="D0E5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E5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Speak Pro"/>
          <a:ea typeface="Speak Pro"/>
          <a:cs typeface="Speak Pro"/>
        </a:font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 i="off">
        <a:font>
          <a:latin typeface="Speak Pro"/>
          <a:ea typeface="Speak Pro"/>
          <a:cs typeface="Speak Pro"/>
        </a:font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 i="off">
        <a:font>
          <a:latin typeface="Speak Pro"/>
          <a:ea typeface="Speak Pro"/>
          <a:cs typeface="Speak Pro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Speak Pro"/>
          <a:ea typeface="Speak Pro"/>
          <a:cs typeface="Speak Pro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6.fntdata"/><Relationship Id="rId21" Type="http://schemas.openxmlformats.org/officeDocument/2006/relationships/slide" Target="slides/slide19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4.fntdata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260c4603c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260c4603c_5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3b260c4603c_5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260c4603c_5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260c4603c_5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b260c4603c_5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260c4603c_5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260c4603c_5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3b260c4603c_5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260c4603c_5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260c4603c_5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3b260c4603c_5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260c4603c_5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260c4603c_5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b260c4603c_5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260c4603c_5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260c4603c_5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3b260c4603c_5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260c4603c_5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260c4603c_5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b260c4603c_5_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260c4603c_5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260c4603c_5_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b260c4603c_5_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260c4603c_5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260c4603c_5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b260c4603c_5_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>
          <a:extLst>
            <a:ext uri="{FF2B5EF4-FFF2-40B4-BE49-F238E27FC236}">
              <a16:creationId xmlns:a16="http://schemas.microsoft.com/office/drawing/2014/main" id="{999CE97D-2584-4955-B181-B639E6A9E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:notes">
            <a:extLst>
              <a:ext uri="{FF2B5EF4-FFF2-40B4-BE49-F238E27FC236}">
                <a16:creationId xmlns:a16="http://schemas.microsoft.com/office/drawing/2014/main" id="{60D48D05-5E82-C419-244E-9258D5B2AD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9:notes">
            <a:extLst>
              <a:ext uri="{FF2B5EF4-FFF2-40B4-BE49-F238E27FC236}">
                <a16:creationId xmlns:a16="http://schemas.microsoft.com/office/drawing/2014/main" id="{3E0E51AA-0E2F-DB98-FBB9-C888D357C2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57298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>
          <a:extLst>
            <a:ext uri="{FF2B5EF4-FFF2-40B4-BE49-F238E27FC236}">
              <a16:creationId xmlns:a16="http://schemas.microsoft.com/office/drawing/2014/main" id="{BEFC27A9-2DD1-5854-F1CD-884310CFE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:notes">
            <a:extLst>
              <a:ext uri="{FF2B5EF4-FFF2-40B4-BE49-F238E27FC236}">
                <a16:creationId xmlns:a16="http://schemas.microsoft.com/office/drawing/2014/main" id="{851E7CF2-082B-4B2E-7ABC-4ABB2C8B15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9:notes">
            <a:extLst>
              <a:ext uri="{FF2B5EF4-FFF2-40B4-BE49-F238E27FC236}">
                <a16:creationId xmlns:a16="http://schemas.microsoft.com/office/drawing/2014/main" id="{F1080B6D-93FA-51B6-E16C-0C63A0F7D5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3429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Geo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cxnSp>
        <p:nvCxnSpPr>
          <p:cNvPr id="21" name="Google Shape;21;p23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23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Geo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cxnSp>
        <p:nvCxnSpPr>
          <p:cNvPr id="48" name="Google Shape;48;p22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" name="Google Shape;49;p22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Geo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cxnSp>
        <p:nvCxnSpPr>
          <p:cNvPr id="56" name="Google Shape;56;p26"/>
          <p:cNvCxnSpPr/>
          <p:nvPr/>
        </p:nvCxnSpPr>
        <p:spPr>
          <a:xfrm>
            <a:off x="1207658" y="4485132"/>
            <a:ext cx="987552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" name="Google Shape;57;p26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6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body" idx="1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body" idx="2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body" idx="2"/>
          </p:nvPr>
        </p:nvSpPr>
        <p:spPr>
          <a:xfrm>
            <a:off x="1097280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body" idx="3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2" name="Google Shape;72;p28"/>
          <p:cNvSpPr txBox="1">
            <a:spLocks noGrp="1"/>
          </p:cNvSpPr>
          <p:nvPr>
            <p:ph type="body" idx="4"/>
          </p:nvPr>
        </p:nvSpPr>
        <p:spPr>
          <a:xfrm>
            <a:off x="6515944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0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body" idx="1"/>
          </p:nvPr>
        </p:nvSpPr>
        <p:spPr>
          <a:xfrm>
            <a:off x="5458984" y="812799"/>
            <a:ext cx="5928344" cy="529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body" idx="2"/>
          </p:nvPr>
        </p:nvSpPr>
        <p:spPr>
          <a:xfrm>
            <a:off x="643465" y="3043050"/>
            <a:ext cx="3517567" cy="306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dt" idx="10"/>
          </p:nvPr>
        </p:nvSpPr>
        <p:spPr>
          <a:xfrm>
            <a:off x="643464" y="6446520"/>
            <a:ext cx="35175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ftr" idx="11"/>
          </p:nvPr>
        </p:nvSpPr>
        <p:spPr>
          <a:xfrm>
            <a:off x="5458983" y="6446520"/>
            <a:ext cx="533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0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1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1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2" name="Google Shape;92;p31"/>
          <p:cNvSpPr txBox="1"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1"/>
          <p:cNvSpPr txBox="1">
            <a:spLocks noGrp="1"/>
          </p:cNvSpPr>
          <p:nvPr>
            <p:ph type="body" idx="1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4" name="Google Shape;94;p31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1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1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600"/>
              <a:buFont typeface="Geo"/>
              <a:buNone/>
              <a:defRPr sz="4600" b="0" i="0" u="none" strike="noStrike" cap="none">
                <a:solidFill>
                  <a:srgbClr val="3F3F3F"/>
                </a:solidFill>
                <a:latin typeface="Geo"/>
                <a:ea typeface="Geo"/>
                <a:cs typeface="Geo"/>
                <a:sym typeface="Ge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1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6" name="Google Shape;16;p21"/>
          <p:cNvCxnSpPr/>
          <p:nvPr/>
        </p:nvCxnSpPr>
        <p:spPr>
          <a:xfrm>
            <a:off x="1193532" y="1897380"/>
            <a:ext cx="996696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600"/>
              <a:buFont typeface="Geo"/>
              <a:buNone/>
              <a:defRPr sz="4600" b="0" i="0" u="none" strike="noStrike" cap="none">
                <a:solidFill>
                  <a:srgbClr val="3F3F3F"/>
                </a:solidFill>
                <a:latin typeface="Geo"/>
                <a:ea typeface="Geo"/>
                <a:cs typeface="Geo"/>
                <a:sym typeface="Ge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32" name="Google Shape;32;p20"/>
          <p:cNvCxnSpPr/>
          <p:nvPr/>
        </p:nvCxnSpPr>
        <p:spPr>
          <a:xfrm>
            <a:off x="1193532" y="1897380"/>
            <a:ext cx="996696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6096000" y="68827"/>
            <a:ext cx="5751872" cy="5417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Geo"/>
              <a:buNone/>
            </a:pPr>
            <a:r>
              <a:rPr lang="en-IN"/>
              <a:t>Zomato order  &amp;  restaurant analysis using Power BI</a:t>
            </a:r>
            <a:endParaRPr/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1"/>
          <p:cNvCxnSpPr/>
          <p:nvPr/>
        </p:nvCxnSpPr>
        <p:spPr>
          <a:xfrm>
            <a:off x="6805053" y="4294754"/>
            <a:ext cx="438912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260c4603c_5_0"/>
          <p:cNvSpPr txBox="1">
            <a:spLocks noGrp="1"/>
          </p:cNvSpPr>
          <p:nvPr>
            <p:ph type="ctrTitle"/>
          </p:nvPr>
        </p:nvSpPr>
        <p:spPr>
          <a:xfrm>
            <a:off x="291650" y="63525"/>
            <a:ext cx="11607900" cy="837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               </a:t>
            </a:r>
            <a:r>
              <a:rPr lang="en-IN" u="sng" dirty="0" err="1"/>
              <a:t>Sql</a:t>
            </a:r>
            <a:r>
              <a:rPr lang="en-IN" u="sng" dirty="0"/>
              <a:t> tasks Task</a:t>
            </a:r>
            <a:r>
              <a:rPr lang="en-IN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u="sng" dirty="0"/>
          </a:p>
        </p:txBody>
      </p:sp>
      <p:sp>
        <p:nvSpPr>
          <p:cNvPr id="111" name="Google Shape;111;g3b260c4603c_5_0"/>
          <p:cNvSpPr txBox="1">
            <a:spLocks noGrp="1"/>
          </p:cNvSpPr>
          <p:nvPr>
            <p:ph type="subTitle" idx="1"/>
          </p:nvPr>
        </p:nvSpPr>
        <p:spPr>
          <a:xfrm>
            <a:off x="1100050" y="678426"/>
            <a:ext cx="10058400" cy="510984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IN" dirty="0"/>
              <a:t> Uploaded The datasets into </a:t>
            </a:r>
            <a:r>
              <a:rPr lang="en-IN" dirty="0" err="1"/>
              <a:t>Mysql</a:t>
            </a:r>
            <a:r>
              <a:rPr lang="en-IN" dirty="0"/>
              <a:t>.</a:t>
            </a:r>
            <a:endParaRPr dirty="0"/>
          </a:p>
        </p:txBody>
      </p:sp>
      <p:pic>
        <p:nvPicPr>
          <p:cNvPr id="112" name="Google Shape;112;g3b260c4603c_5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78450"/>
            <a:ext cx="12192000" cy="537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260c4603c_5_7"/>
          <p:cNvSpPr txBox="1">
            <a:spLocks noGrp="1"/>
          </p:cNvSpPr>
          <p:nvPr>
            <p:ph type="ctrTitle"/>
          </p:nvPr>
        </p:nvSpPr>
        <p:spPr>
          <a:xfrm>
            <a:off x="176150" y="106850"/>
            <a:ext cx="11824500" cy="635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                        </a:t>
            </a:r>
            <a:r>
              <a:rPr lang="en-IN" b="1" u="sng"/>
              <a:t> Task2</a:t>
            </a:r>
            <a:endParaRPr b="1" u="sng"/>
          </a:p>
        </p:txBody>
      </p:sp>
      <p:sp>
        <p:nvSpPr>
          <p:cNvPr id="119" name="Google Shape;119;g3b260c4603c_5_7"/>
          <p:cNvSpPr txBox="1">
            <a:spLocks noGrp="1"/>
          </p:cNvSpPr>
          <p:nvPr>
            <p:ph type="subTitle" idx="1"/>
          </p:nvPr>
        </p:nvSpPr>
        <p:spPr>
          <a:xfrm>
            <a:off x="363825" y="808500"/>
            <a:ext cx="12257700" cy="5241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b="1"/>
              <a:t>                             </a:t>
            </a:r>
            <a:r>
              <a:rPr lang="en-IN" b="1" u="sng"/>
              <a:t>Basic Data Cleaning Done To</a:t>
            </a:r>
            <a:r>
              <a:rPr lang="en-IN" b="1"/>
              <a:t> </a:t>
            </a:r>
            <a:endParaRPr b="1"/>
          </a:p>
          <a:p>
            <a:pPr marL="45720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IN" sz="1800"/>
              <a:t>	Remove duplicate records.</a:t>
            </a:r>
            <a:endParaRPr sz="18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1800"/>
              <a:t>	Handle NULL values (if any) by replacing them with appropriate values.</a:t>
            </a:r>
            <a:endParaRPr sz="1800"/>
          </a:p>
          <a:p>
            <a:pPr marL="457200" lvl="0" indent="0" algn="l" rtl="0">
              <a:spcBef>
                <a:spcPts val="1200"/>
              </a:spcBef>
              <a:spcAft>
                <a:spcPts val="200"/>
              </a:spcAft>
              <a:buNone/>
            </a:pPr>
            <a:endParaRPr sz="1800"/>
          </a:p>
        </p:txBody>
      </p:sp>
      <p:pic>
        <p:nvPicPr>
          <p:cNvPr id="120" name="Google Shape;120;g3b260c4603c_5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17975"/>
            <a:ext cx="12708226" cy="434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260c4603c_5_15"/>
          <p:cNvSpPr txBox="1">
            <a:spLocks noGrp="1"/>
          </p:cNvSpPr>
          <p:nvPr>
            <p:ph type="ctrTitle"/>
          </p:nvPr>
        </p:nvSpPr>
        <p:spPr>
          <a:xfrm>
            <a:off x="710325" y="955800"/>
            <a:ext cx="13563900" cy="96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8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8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To Count the number of restaurants in each city.</a:t>
            </a: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b260c4603c_5_15"/>
          <p:cNvSpPr txBox="1">
            <a:spLocks noGrp="1"/>
          </p:cNvSpPr>
          <p:nvPr>
            <p:ph type="subTitle" idx="1"/>
          </p:nvPr>
        </p:nvSpPr>
        <p:spPr>
          <a:xfrm>
            <a:off x="1100050" y="1308069"/>
            <a:ext cx="10058400" cy="448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200"/>
              </a:spcAft>
              <a:buNone/>
            </a:pPr>
            <a:endParaRPr/>
          </a:p>
        </p:txBody>
      </p:sp>
      <p:pic>
        <p:nvPicPr>
          <p:cNvPr id="128" name="Google Shape;128;g3b260c4603c_5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8725"/>
            <a:ext cx="12192000" cy="597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260c4603c_5_23"/>
          <p:cNvSpPr txBox="1">
            <a:spLocks noGrp="1"/>
          </p:cNvSpPr>
          <p:nvPr>
            <p:ph type="ctrTitle"/>
          </p:nvPr>
        </p:nvSpPr>
        <p:spPr>
          <a:xfrm>
            <a:off x="1097275" y="251225"/>
            <a:ext cx="10058400" cy="721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8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Finding the top 5 cities with the highest number of orders.</a:t>
            </a:r>
            <a:endParaRPr sz="1800" b="1" u="sng"/>
          </a:p>
        </p:txBody>
      </p:sp>
      <p:pic>
        <p:nvPicPr>
          <p:cNvPr id="135" name="Google Shape;135;g3b260c4603c_5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73025"/>
            <a:ext cx="12192000" cy="573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260c4603c_5_31"/>
          <p:cNvSpPr txBox="1">
            <a:spLocks noGrp="1"/>
          </p:cNvSpPr>
          <p:nvPr>
            <p:ph type="ctrTitle"/>
          </p:nvPr>
        </p:nvSpPr>
        <p:spPr>
          <a:xfrm>
            <a:off x="1097275" y="106850"/>
            <a:ext cx="10058400" cy="808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914400" lvl="0" indent="-2286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0" indent="-2286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0" indent="-2286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0" indent="-2286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IN" sz="18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revenue generated by each restaurant.</a:t>
            </a: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42" name="Google Shape;142;g3b260c4603c_5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57300"/>
            <a:ext cx="12192000" cy="614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260c4603c_5_39"/>
          <p:cNvSpPr txBox="1">
            <a:spLocks noGrp="1"/>
          </p:cNvSpPr>
          <p:nvPr>
            <p:ph type="ctrTitle"/>
          </p:nvPr>
        </p:nvSpPr>
        <p:spPr>
          <a:xfrm>
            <a:off x="219450" y="92400"/>
            <a:ext cx="11896800" cy="1082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914400" lvl="0" indent="-2286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r>
              <a:rPr lang="en-IN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IN" sz="24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Find the average order amount for each city.</a:t>
            </a:r>
            <a:endParaRPr sz="24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49" name="Google Shape;149;g3b260c4603c_5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6550"/>
            <a:ext cx="12426638" cy="610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260c4603c_5_59"/>
          <p:cNvSpPr txBox="1">
            <a:spLocks noGrp="1"/>
          </p:cNvSpPr>
          <p:nvPr>
            <p:ph type="ctrTitle"/>
          </p:nvPr>
        </p:nvSpPr>
        <p:spPr>
          <a:xfrm>
            <a:off x="378275" y="164600"/>
            <a:ext cx="11665800" cy="1732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914400" lvl="0" indent="-2286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20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top 5 restaurants with the highest total sales.</a:t>
            </a:r>
            <a:endParaRPr sz="20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g3b260c4603c_5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9925"/>
            <a:ext cx="12192000" cy="6035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260c4603c_5_67"/>
          <p:cNvSpPr txBox="1">
            <a:spLocks noGrp="1"/>
          </p:cNvSpPr>
          <p:nvPr>
            <p:ph type="ctrTitle"/>
          </p:nvPr>
        </p:nvSpPr>
        <p:spPr>
          <a:xfrm>
            <a:off x="1100050" y="265650"/>
            <a:ext cx="10058400" cy="664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Join the </a:t>
            </a:r>
            <a:r>
              <a:rPr lang="en-IN" sz="2400" b="1" u="sng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Zomato_Orders</a:t>
            </a:r>
            <a:r>
              <a:rPr lang="en-IN" sz="24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IN" sz="2400" b="1" u="sng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Zomato_Restaurants</a:t>
            </a:r>
            <a:endParaRPr sz="2400" b="1" u="sng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b260c4603c_5_67"/>
          <p:cNvSpPr txBox="1"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200"/>
              </a:spcAft>
              <a:buNone/>
            </a:pPr>
            <a:endParaRPr/>
          </a:p>
        </p:txBody>
      </p:sp>
      <p:pic>
        <p:nvPicPr>
          <p:cNvPr id="164" name="Google Shape;164;g3b260c4603c_5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2250"/>
            <a:ext cx="12015226" cy="5775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260c4603c_5_75"/>
          <p:cNvSpPr txBox="1">
            <a:spLocks noGrp="1"/>
          </p:cNvSpPr>
          <p:nvPr>
            <p:ph type="ctrTitle"/>
          </p:nvPr>
        </p:nvSpPr>
        <p:spPr>
          <a:xfrm>
            <a:off x="464900" y="193475"/>
            <a:ext cx="10690800" cy="1053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latin typeface="Arial"/>
                <a:ea typeface="Arial"/>
                <a:cs typeface="Arial"/>
                <a:sym typeface="Arial"/>
              </a:rPr>
              <a:t>Then transformed the data into the Excel file after data cleaning and using it in the power Bi . 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b260c4603c_5_75"/>
          <p:cNvSpPr txBox="1">
            <a:spLocks noGrp="1"/>
          </p:cNvSpPr>
          <p:nvPr>
            <p:ph type="subTitle" idx="1"/>
          </p:nvPr>
        </p:nvSpPr>
        <p:spPr>
          <a:xfrm>
            <a:off x="652600" y="1406250"/>
            <a:ext cx="10506000" cy="438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IN"/>
              <a:t>    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IN"/>
              <a:t>                       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200"/>
              </a:spcAft>
              <a:buNone/>
            </a:pPr>
            <a:r>
              <a:rPr lang="en-IN"/>
              <a:t>                        </a:t>
            </a:r>
            <a:r>
              <a:rPr lang="en-IN" sz="3000" b="1" u="sng">
                <a:solidFill>
                  <a:srgbClr val="980000"/>
                </a:solidFill>
              </a:rPr>
              <a:t> Diving into the power Bi tasks . </a:t>
            </a:r>
            <a:endParaRPr sz="3000" b="1" u="sng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001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Geo"/>
              <a:buNone/>
            </a:pPr>
            <a:r>
              <a:rPr lang="en-IN"/>
              <a:t>                                       </a:t>
            </a:r>
            <a:br>
              <a:rPr lang="en-IN"/>
            </a:br>
            <a:r>
              <a:rPr lang="en-IN"/>
              <a:t>                                         </a:t>
            </a:r>
            <a:r>
              <a:rPr lang="en-IN" b="1" u="sng"/>
              <a:t>Task 1 </a:t>
            </a:r>
            <a:br>
              <a:rPr lang="en-IN" b="1" u="sng"/>
            </a:br>
            <a:endParaRPr b="1" u="sng"/>
          </a:p>
        </p:txBody>
      </p:sp>
      <p:sp>
        <p:nvSpPr>
          <p:cNvPr id="177" name="Google Shape;177;p2"/>
          <p:cNvSpPr txBox="1">
            <a:spLocks noGrp="1"/>
          </p:cNvSpPr>
          <p:nvPr>
            <p:ph type="body" idx="1"/>
          </p:nvPr>
        </p:nvSpPr>
        <p:spPr>
          <a:xfrm>
            <a:off x="78658" y="550606"/>
            <a:ext cx="11077022" cy="51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524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❖"/>
            </a:pPr>
            <a:r>
              <a:rPr lang="en-IN" sz="2400">
                <a:solidFill>
                  <a:srgbClr val="C00000"/>
                </a:solidFill>
              </a:rPr>
              <a:t> </a:t>
            </a:r>
            <a:r>
              <a:rPr lang="en-IN" sz="2400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Mumbai, with the highest number of restaurants, shows Thai cuisine leading in sales and supply, effectively meeting the city’s food demand.</a:t>
            </a:r>
            <a:endParaRPr sz="2400">
              <a:solidFill>
                <a:srgbClr val="00206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9144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❖"/>
            </a:pPr>
            <a:r>
              <a:rPr lang="en-IN" sz="2400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Chennai, with the lowest number of restaurants, shows Mexican  cuisine leading in sales and supply, effectively meeting the city’s food demand.</a:t>
            </a:r>
            <a:endParaRPr/>
          </a:p>
          <a:p>
            <a:pPr marL="9144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❖"/>
            </a:pPr>
            <a:r>
              <a:rPr lang="en-IN" sz="2400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 Bangalore , with the </a:t>
            </a:r>
            <a:r>
              <a:rPr lang="en-IN" sz="2400" b="1" u="sng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second</a:t>
            </a:r>
            <a:r>
              <a:rPr lang="en-IN" sz="2400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 highest number of restaurants, shows Mexican  cuisine leading in sales and supply, effectively meeting the city’s food demand.</a:t>
            </a:r>
            <a:endParaRPr/>
          </a:p>
          <a:p>
            <a:pPr marL="9144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❖"/>
            </a:pPr>
            <a:r>
              <a:rPr lang="en-IN" sz="2400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  In Delhi and Kolkata cities  the Italian cuisine leading in sales but  supply </a:t>
            </a:r>
            <a:r>
              <a:rPr lang="en-IN" sz="2400" b="1" u="sng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does not  </a:t>
            </a:r>
            <a:r>
              <a:rPr lang="en-IN" sz="2400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effectively meet the city’s food demand.</a:t>
            </a:r>
            <a:endParaRPr/>
          </a:p>
          <a:p>
            <a:pPr marL="9144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None/>
            </a:pPr>
            <a:endParaRPr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600"/>
              <a:buFont typeface="Geo"/>
              <a:buNone/>
            </a:pPr>
            <a:endParaRPr/>
          </a:p>
        </p:txBody>
      </p:sp>
      <p:pic>
        <p:nvPicPr>
          <p:cNvPr id="183" name="Google Shape;183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184" y="-383458"/>
            <a:ext cx="12177816" cy="7579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>
            <a:spLocks noGrp="1"/>
          </p:cNvSpPr>
          <p:nvPr>
            <p:ph type="title"/>
          </p:nvPr>
        </p:nvSpPr>
        <p:spPr>
          <a:xfrm>
            <a:off x="1066800" y="261289"/>
            <a:ext cx="10058400" cy="322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Geo"/>
              <a:buNone/>
            </a:pPr>
            <a:r>
              <a:rPr lang="en-IN"/>
              <a:t>                                     </a:t>
            </a:r>
            <a:r>
              <a:rPr lang="en-IN" b="1" u="sng"/>
              <a:t>Task 2</a:t>
            </a:r>
            <a:endParaRPr/>
          </a:p>
        </p:txBody>
      </p:sp>
      <p:sp>
        <p:nvSpPr>
          <p:cNvPr id="189" name="Google Shape;189;p4"/>
          <p:cNvSpPr txBox="1">
            <a:spLocks noGrp="1"/>
          </p:cNvSpPr>
          <p:nvPr>
            <p:ph type="body" idx="1"/>
          </p:nvPr>
        </p:nvSpPr>
        <p:spPr>
          <a:xfrm>
            <a:off x="250722" y="448102"/>
            <a:ext cx="11690555" cy="614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IN" sz="2400" u="sng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By looking at the pie chart we get the following details</a:t>
            </a:r>
            <a:endParaRPr/>
          </a:p>
          <a:p>
            <a:pPr marL="9144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❖"/>
            </a:pPr>
            <a:r>
              <a:rPr lang="en-IN" sz="2400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   The total number of orders received are 15,000 across all the cities. </a:t>
            </a:r>
            <a:endParaRPr sz="2400" u="sng">
              <a:solidFill>
                <a:srgbClr val="00206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9144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❖"/>
            </a:pPr>
            <a:r>
              <a:rPr lang="en-IN" sz="2400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  Mumbai in the </a:t>
            </a:r>
            <a:r>
              <a:rPr lang="en-IN" sz="2400" u="sng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1</a:t>
            </a:r>
            <a:r>
              <a:rPr lang="en-IN" sz="2400" u="sng" baseline="30000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st</a:t>
            </a:r>
            <a:r>
              <a:rPr lang="en-IN" sz="2400" u="sng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 place </a:t>
            </a:r>
            <a:r>
              <a:rPr lang="en-IN" sz="2400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has the highest number of orders with 3384 contributing 22% of the total orders. Thus dominating the Zomato market.</a:t>
            </a:r>
            <a:endParaRPr/>
          </a:p>
          <a:p>
            <a:pPr marL="9144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❖"/>
            </a:pPr>
            <a:r>
              <a:rPr lang="en-IN" sz="2400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 Mumbai is in the last place in terms of lowest orders per restaurant (29.4) indicating  lower utilization per outlet .</a:t>
            </a:r>
            <a:endParaRPr/>
          </a:p>
          <a:p>
            <a:pPr marL="9144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❖"/>
            </a:pPr>
            <a:r>
              <a:rPr lang="en-IN" sz="2400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  Chennai has the lowest number of orders with 2727 contributing 18% of the total       orders. </a:t>
            </a:r>
            <a:endParaRPr/>
          </a:p>
          <a:p>
            <a:pPr marL="9144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❖"/>
            </a:pPr>
            <a:r>
              <a:rPr lang="en-IN" sz="2400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 Bangalore in the</a:t>
            </a:r>
            <a:r>
              <a:rPr lang="en-IN" sz="2400" u="sng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  2</a:t>
            </a:r>
            <a:r>
              <a:rPr lang="en-IN" sz="2400" u="sng" baseline="30000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nd place </a:t>
            </a:r>
            <a:r>
              <a:rPr lang="en-IN" sz="2400" u="sng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IN" sz="2400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having 3300 orders contributing 22% of the total orders</a:t>
            </a:r>
            <a:endParaRPr/>
          </a:p>
          <a:p>
            <a:pPr marL="9144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❖"/>
            </a:pPr>
            <a:r>
              <a:rPr lang="en-IN" sz="2400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 Delhi in the </a:t>
            </a:r>
            <a:r>
              <a:rPr lang="en-IN" sz="2400" u="sng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3</a:t>
            </a:r>
            <a:r>
              <a:rPr lang="en-IN" sz="2400" u="sng" baseline="30000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rd</a:t>
            </a:r>
            <a:r>
              <a:rPr lang="en-IN" sz="2400" u="sng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 place </a:t>
            </a:r>
            <a:r>
              <a:rPr lang="en-IN" sz="2400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having 2857 orders contributing 19 % of the total orders but has the highest orders per restaurant (30.7), indicating strong demand relative to supply. </a:t>
            </a:r>
            <a:endParaRPr sz="2400">
              <a:solidFill>
                <a:srgbClr val="00206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9144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❖"/>
            </a:pPr>
            <a:r>
              <a:rPr lang="en-IN" sz="2400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 Kolkata in the </a:t>
            </a:r>
            <a:r>
              <a:rPr lang="en-IN" sz="2400" u="sng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4</a:t>
            </a:r>
            <a:r>
              <a:rPr lang="en-IN" sz="2400" u="sng" baseline="30000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th</a:t>
            </a:r>
            <a:r>
              <a:rPr lang="en-IN" sz="2400" u="sng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 place </a:t>
            </a:r>
            <a:r>
              <a:rPr lang="en-IN" sz="2400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having 2732 orders contributing 18 % of the total orders.</a:t>
            </a:r>
            <a:endParaRPr/>
          </a:p>
          <a:p>
            <a:pPr marL="9144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None/>
            </a:pPr>
            <a:endParaRPr sz="2400">
              <a:solidFill>
                <a:srgbClr val="00206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9144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None/>
            </a:pPr>
            <a:endParaRPr>
              <a:solidFill>
                <a:srgbClr val="002060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09550"/>
            <a:ext cx="12192000" cy="643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"/>
          <p:cNvSpPr txBox="1">
            <a:spLocks noGrp="1"/>
          </p:cNvSpPr>
          <p:nvPr>
            <p:ph type="title"/>
          </p:nvPr>
        </p:nvSpPr>
        <p:spPr>
          <a:xfrm>
            <a:off x="226142" y="1"/>
            <a:ext cx="10929538" cy="67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Geo"/>
              <a:buNone/>
            </a:pPr>
            <a:r>
              <a:rPr lang="en-IN"/>
              <a:t>                                        </a:t>
            </a:r>
            <a:r>
              <a:rPr lang="en-IN" b="1" u="sng"/>
              <a:t>Task 3</a:t>
            </a:r>
            <a:endParaRPr/>
          </a:p>
        </p:txBody>
      </p:sp>
      <p:sp>
        <p:nvSpPr>
          <p:cNvPr id="200" name="Google Shape;200;p6"/>
          <p:cNvSpPr txBox="1">
            <a:spLocks noGrp="1"/>
          </p:cNvSpPr>
          <p:nvPr>
            <p:ph type="body" idx="1"/>
          </p:nvPr>
        </p:nvSpPr>
        <p:spPr>
          <a:xfrm>
            <a:off x="324465" y="748737"/>
            <a:ext cx="10831215" cy="47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IN" sz="2400">
                <a:latin typeface="Book Antiqua"/>
                <a:ea typeface="Book Antiqua"/>
                <a:cs typeface="Book Antiqua"/>
                <a:sym typeface="Book Antiqua"/>
              </a:rPr>
              <a:t>                         </a:t>
            </a:r>
            <a:r>
              <a:rPr lang="en-IN" sz="2400" u="sng">
                <a:latin typeface="Book Antiqua"/>
                <a:ea typeface="Book Antiqua"/>
                <a:cs typeface="Book Antiqua"/>
                <a:sym typeface="Book Antiqua"/>
              </a:rPr>
              <a:t>Analysing peak sales periods and slow periods by each city.</a:t>
            </a:r>
            <a:endParaRPr sz="2400">
              <a:latin typeface="Book Antiqua"/>
              <a:ea typeface="Book Antiqua"/>
              <a:cs typeface="Book Antiqua"/>
              <a:sym typeface="Book Antiqua"/>
            </a:endParaRPr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IN" sz="2400" u="sng">
                <a:solidFill>
                  <a:srgbClr val="C00000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endParaRPr/>
          </a:p>
        </p:txBody>
      </p:sp>
      <p:graphicFrame>
        <p:nvGraphicFramePr>
          <p:cNvPr id="201" name="Google Shape;201;p6"/>
          <p:cNvGraphicFramePr/>
          <p:nvPr/>
        </p:nvGraphicFramePr>
        <p:xfrm>
          <a:off x="0" y="1219200"/>
          <a:ext cx="12300125" cy="5820650"/>
        </p:xfrm>
        <a:graphic>
          <a:graphicData uri="http://schemas.openxmlformats.org/drawingml/2006/table">
            <a:tbl>
              <a:tblPr firstRow="1" bandRow="1">
                <a:noFill/>
                <a:tableStyleId>{D453F693-1B67-4F08-9C9D-BA3F5884F149}</a:tableStyleId>
              </a:tblPr>
              <a:tblGrid>
                <a:gridCol w="180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1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5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3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23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23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u="none" strike="noStrike" cap="none"/>
                        <a:t>city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Maximum order on Date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With amount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b="1"/>
                        <a:t>Minimum 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b="1"/>
                        <a:t>order on Date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b="1"/>
                        <a:t>With amount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Maximum orders month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b="1"/>
                        <a:t>Minimum orders month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3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Chennai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May 10,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Rs22,546.39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Nov 12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Rs 200.76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April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July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3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Delhi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July 17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Rs21,013.92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May 15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Rs 1,368.48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October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December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3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Bangalore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May 3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Rs 26,048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November 8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Rs 1,745.84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July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June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3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Kolkata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Jan 20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Rs 20,066.22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July 22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Rs 451.88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August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November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3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Mumbai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b="1"/>
                        <a:t>December 20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b="1"/>
                        <a:t>Rs 21,617.69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January 13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Rs 2,596.43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October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/>
                        <a:t>January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1543665"/>
            <a:ext cx="12192000" cy="531433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7"/>
          <p:cNvSpPr txBox="1"/>
          <p:nvPr/>
        </p:nvSpPr>
        <p:spPr>
          <a:xfrm>
            <a:off x="265471" y="157316"/>
            <a:ext cx="11454582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I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higher orders during holidays in May  in cities Bangalore and Chennai.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IN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During Diwali  season October there are great sales in Kolkata, Delhi and Mumbai.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IN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January Delhi and Kolkata have high orders.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IN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Overall there is balance in orders in October month. 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 txBox="1">
            <a:spLocks noGrp="1"/>
          </p:cNvSpPr>
          <p:nvPr>
            <p:ph type="title"/>
          </p:nvPr>
        </p:nvSpPr>
        <p:spPr>
          <a:xfrm>
            <a:off x="1175938" y="98323"/>
            <a:ext cx="10058400" cy="74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600"/>
              <a:buFont typeface="Geo"/>
              <a:buNone/>
            </a:pPr>
            <a:r>
              <a:rPr lang="en-IN"/>
              <a:t>                                     </a:t>
            </a:r>
            <a:r>
              <a:rPr lang="en-IN" b="1" u="sng"/>
              <a:t>Task 4</a:t>
            </a:r>
            <a:endParaRPr/>
          </a:p>
        </p:txBody>
      </p:sp>
      <p:sp>
        <p:nvSpPr>
          <p:cNvPr id="213" name="Google Shape;213;p8"/>
          <p:cNvSpPr txBox="1">
            <a:spLocks noGrp="1"/>
          </p:cNvSpPr>
          <p:nvPr>
            <p:ph type="body" idx="1"/>
          </p:nvPr>
        </p:nvSpPr>
        <p:spPr>
          <a:xfrm>
            <a:off x="314632" y="845575"/>
            <a:ext cx="10841048" cy="50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201168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600"/>
              <a:buNone/>
            </a:pPr>
            <a:r>
              <a:rPr lang="en-IN" sz="2600" b="1"/>
              <a:t>    </a:t>
            </a:r>
            <a:r>
              <a:rPr lang="en-IN" sz="2600" b="1" u="sng">
                <a:latin typeface="Book Antiqua"/>
                <a:ea typeface="Book Antiqua"/>
                <a:cs typeface="Book Antiqua"/>
                <a:sym typeface="Book Antiqua"/>
              </a:rPr>
              <a:t>Identifying correlations between different factors using a scatter plot. </a:t>
            </a:r>
            <a:endParaRPr/>
          </a:p>
          <a:p>
            <a:pPr marL="91440" lvl="0" indent="-127000" algn="l" rtl="0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Char char="❖"/>
            </a:pPr>
            <a:r>
              <a:rPr lang="en-IN" b="1">
                <a:latin typeface="Book Antiqua"/>
                <a:ea typeface="Book Antiqua"/>
                <a:cs typeface="Book Antiqua"/>
                <a:sym typeface="Book Antiqua"/>
              </a:rPr>
              <a:t>   </a:t>
            </a:r>
            <a:r>
              <a:rPr lang="en-IN" sz="2400" b="1">
                <a:latin typeface="Book Antiqua"/>
                <a:ea typeface="Book Antiqua"/>
                <a:cs typeface="Book Antiqua"/>
                <a:sym typeface="Book Antiqua"/>
              </a:rPr>
              <a:t>Only in a few cases the delivery time effects the customer ratings overall its stable. </a:t>
            </a:r>
            <a:endParaRPr/>
          </a:p>
          <a:p>
            <a:pPr marL="9144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❖"/>
            </a:pPr>
            <a:r>
              <a:rPr lang="en-IN" sz="2400"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lang="en-IN" sz="2400" b="1">
                <a:latin typeface="Book Antiqua"/>
                <a:ea typeface="Book Antiqua"/>
                <a:cs typeface="Book Antiqua"/>
                <a:sym typeface="Book Antiqua"/>
              </a:rPr>
              <a:t>Shorter  delivery time give more customer satisfaction but viewing overall its stable. </a:t>
            </a:r>
            <a:endParaRPr/>
          </a:p>
          <a:p>
            <a:pPr marL="9144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❖"/>
            </a:pPr>
            <a:r>
              <a:rPr lang="en-IN" sz="2400" b="1">
                <a:latin typeface="Book Antiqua"/>
                <a:ea typeface="Book Antiqua"/>
                <a:cs typeface="Book Antiqua"/>
                <a:sym typeface="Book Antiqua"/>
              </a:rPr>
              <a:t>   Overall analysis tells us that the order count , price and delivery time does not effect the customer ratings its stable</a:t>
            </a:r>
            <a:r>
              <a:rPr lang="en-IN" b="1">
                <a:latin typeface="Book Antiqua"/>
                <a:ea typeface="Book Antiqua"/>
                <a:cs typeface="Book Antiqua"/>
                <a:sym typeface="Book Antiqua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1336" y="0"/>
            <a:ext cx="1217066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 txBox="1">
            <a:spLocks noGrp="1"/>
          </p:cNvSpPr>
          <p:nvPr>
            <p:ph type="title"/>
          </p:nvPr>
        </p:nvSpPr>
        <p:spPr>
          <a:xfrm>
            <a:off x="442452" y="1"/>
            <a:ext cx="10713228" cy="85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600"/>
              <a:buFont typeface="Geo"/>
              <a:buNone/>
            </a:pPr>
            <a:r>
              <a:rPr lang="en-IN"/>
              <a:t>                                     </a:t>
            </a:r>
            <a:r>
              <a:rPr lang="en-IN" b="1" u="sng"/>
              <a:t>Task 5</a:t>
            </a:r>
            <a:endParaRPr/>
          </a:p>
        </p:txBody>
      </p:sp>
      <p:sp>
        <p:nvSpPr>
          <p:cNvPr id="225" name="Google Shape;225;p10"/>
          <p:cNvSpPr txBox="1">
            <a:spLocks noGrp="1"/>
          </p:cNvSpPr>
          <p:nvPr>
            <p:ph type="body" idx="1"/>
          </p:nvPr>
        </p:nvSpPr>
        <p:spPr>
          <a:xfrm>
            <a:off x="442452" y="855407"/>
            <a:ext cx="10713228" cy="5456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</a:pPr>
            <a:r>
              <a:rPr lang="en-IN"/>
              <a:t>                </a:t>
            </a:r>
            <a:r>
              <a:rPr lang="en-IN" sz="2200" b="1" u="sng">
                <a:latin typeface="Book Antiqua"/>
                <a:ea typeface="Book Antiqua"/>
                <a:cs typeface="Book Antiqua"/>
                <a:sym typeface="Book Antiqua"/>
              </a:rPr>
              <a:t>Identifying the Top 5 Restaurants by Total Sales</a:t>
            </a:r>
            <a:endParaRPr/>
          </a:p>
          <a:p>
            <a:pPr marL="91440" lvl="0" indent="-1397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Noto Sans Symbols"/>
              <a:buChar char="❖"/>
            </a:pPr>
            <a:r>
              <a:rPr lang="en-IN" sz="2200" b="1">
                <a:latin typeface="Book Antiqua"/>
                <a:ea typeface="Book Antiqua"/>
                <a:cs typeface="Book Antiqua"/>
                <a:sym typeface="Book Antiqua"/>
              </a:rPr>
              <a:t>The top 5 restaurants are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200"/>
              <a:buNone/>
            </a:pPr>
            <a:r>
              <a:rPr lang="en-IN" sz="2200" b="1">
                <a:latin typeface="Book Antiqua"/>
                <a:ea typeface="Book Antiqua"/>
                <a:cs typeface="Book Antiqua"/>
                <a:sym typeface="Book Antiqua"/>
              </a:rPr>
              <a:t>    1) Restaurants_116 in Bangalore which is an Indian cuisine with low price range having average rating of 4.8 .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200"/>
              <a:buNone/>
            </a:pPr>
            <a:r>
              <a:rPr lang="en-IN" sz="2200" b="1">
                <a:latin typeface="Book Antiqua"/>
                <a:ea typeface="Book Antiqua"/>
                <a:cs typeface="Book Antiqua"/>
                <a:sym typeface="Book Antiqua"/>
              </a:rPr>
              <a:t>    2) Restaurants_262  in Bangalore which is  Mexican cuisine with medium price having average  rating of 2.5 .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200"/>
              <a:buNone/>
            </a:pPr>
            <a:r>
              <a:rPr lang="en-IN" sz="2200" b="1">
                <a:latin typeface="Book Antiqua"/>
                <a:ea typeface="Book Antiqua"/>
                <a:cs typeface="Book Antiqua"/>
                <a:sym typeface="Book Antiqua"/>
              </a:rPr>
              <a:t>    3) Restaurants_56 in Mumbai which is a Thai  cuisine with low price range having average    rating of 4.6 .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200"/>
              <a:buNone/>
            </a:pPr>
            <a:r>
              <a:rPr lang="en-IN" sz="2200" b="1">
                <a:latin typeface="Book Antiqua"/>
                <a:ea typeface="Book Antiqua"/>
                <a:cs typeface="Book Antiqua"/>
                <a:sym typeface="Book Antiqua"/>
              </a:rPr>
              <a:t>    4) Restaurants_27 in Delhi which is a Italian cuisine with high price range having average    rating of 2.6 .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200"/>
              <a:buNone/>
            </a:pPr>
            <a:r>
              <a:rPr lang="en-IN" sz="2200" b="1">
                <a:latin typeface="Book Antiqua"/>
                <a:ea typeface="Book Antiqua"/>
                <a:cs typeface="Book Antiqua"/>
                <a:sym typeface="Book Antiqua"/>
              </a:rPr>
              <a:t>    5) Restaurants_127 in Bangalore which is a Indain  cuisine with high price range having average    rating of 4.4 .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</a:pPr>
            <a:endParaRPr b="1">
              <a:latin typeface="Book Antiqua"/>
              <a:ea typeface="Book Antiqua"/>
              <a:cs typeface="Book Antiqua"/>
              <a:sym typeface="Book Antiqua"/>
            </a:endParaRPr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</a:pPr>
            <a:endParaRPr b="1">
              <a:latin typeface="Book Antiqua"/>
              <a:ea typeface="Book Antiqua"/>
              <a:cs typeface="Book Antiqua"/>
              <a:sym typeface="Book Antiqua"/>
            </a:endParaRPr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</a:pP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4519"/>
            <a:ext cx="12192000" cy="6468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"/>
          <p:cNvSpPr txBox="1">
            <a:spLocks noGrp="1"/>
          </p:cNvSpPr>
          <p:nvPr>
            <p:ph type="title"/>
          </p:nvPr>
        </p:nvSpPr>
        <p:spPr>
          <a:xfrm>
            <a:off x="1097280" y="0"/>
            <a:ext cx="10058400" cy="77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600"/>
              <a:buFont typeface="Geo"/>
              <a:buNone/>
            </a:pPr>
            <a:r>
              <a:rPr lang="en-IN"/>
              <a:t>                                     </a:t>
            </a:r>
            <a:r>
              <a:rPr lang="en-IN" b="1" u="sng"/>
              <a:t>Task 6</a:t>
            </a:r>
            <a:endParaRPr/>
          </a:p>
        </p:txBody>
      </p:sp>
      <p:sp>
        <p:nvSpPr>
          <p:cNvPr id="236" name="Google Shape;236;p12"/>
          <p:cNvSpPr txBox="1">
            <a:spLocks noGrp="1"/>
          </p:cNvSpPr>
          <p:nvPr>
            <p:ph type="body" idx="1"/>
          </p:nvPr>
        </p:nvSpPr>
        <p:spPr>
          <a:xfrm>
            <a:off x="648929" y="894737"/>
            <a:ext cx="10506751" cy="4974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</a:pPr>
            <a:r>
              <a:rPr lang="en-IN"/>
              <a:t>                  </a:t>
            </a:r>
            <a:r>
              <a:rPr lang="en-IN" sz="2400" b="1" u="sng">
                <a:latin typeface="Book Antiqua"/>
                <a:ea typeface="Book Antiqua"/>
                <a:cs typeface="Book Antiqua"/>
                <a:sym typeface="Book Antiqua"/>
              </a:rPr>
              <a:t>Identifying Revenue by Area Using a Tree Map       </a:t>
            </a:r>
            <a:endParaRPr/>
          </a:p>
          <a:p>
            <a:pPr marL="91440" lvl="0" indent="-1270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Char char="❖"/>
            </a:pPr>
            <a:r>
              <a:rPr lang="en-IN" b="1">
                <a:latin typeface="Book Antiqua"/>
                <a:ea typeface="Book Antiqua"/>
                <a:cs typeface="Book Antiqua"/>
                <a:sym typeface="Book Antiqua"/>
              </a:rPr>
              <a:t>   Created a Tree map showing revenue area wise. </a:t>
            </a:r>
            <a:endParaRPr/>
          </a:p>
          <a:p>
            <a:pPr marL="91440" lvl="0" indent="-1270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Char char="❖"/>
            </a:pPr>
            <a:r>
              <a:rPr lang="en-IN" b="1">
                <a:latin typeface="Book Antiqua"/>
                <a:ea typeface="Book Antiqua"/>
                <a:cs typeface="Book Antiqua"/>
                <a:sym typeface="Book Antiqua"/>
              </a:rPr>
              <a:t>  The top areas revenue wise  are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</a:pPr>
            <a:r>
              <a:rPr lang="en-IN" b="1">
                <a:latin typeface="Book Antiqua"/>
                <a:ea typeface="Book Antiqua"/>
                <a:cs typeface="Book Antiqua"/>
                <a:sym typeface="Book Antiqua"/>
              </a:rPr>
              <a:t>       1) Area_A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</a:pPr>
            <a:r>
              <a:rPr lang="en-IN" b="1">
                <a:latin typeface="Book Antiqua"/>
                <a:ea typeface="Book Antiqua"/>
                <a:cs typeface="Book Antiqua"/>
                <a:sym typeface="Book Antiqua"/>
              </a:rPr>
              <a:t>       2) Area_B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</a:pPr>
            <a:r>
              <a:rPr lang="en-IN" b="1">
                <a:latin typeface="Book Antiqua"/>
                <a:ea typeface="Book Antiqua"/>
                <a:cs typeface="Book Antiqua"/>
                <a:sym typeface="Book Antiqua"/>
              </a:rPr>
              <a:t>       3) Area_D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</a:pPr>
            <a:r>
              <a:rPr lang="en-IN" b="1">
                <a:latin typeface="Book Antiqua"/>
                <a:ea typeface="Book Antiqua"/>
                <a:cs typeface="Book Antiqua"/>
                <a:sym typeface="Book Antiqua"/>
              </a:rPr>
              <a:t>       4) Area_C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</a:pPr>
            <a:r>
              <a:rPr lang="en-IN" b="1">
                <a:latin typeface="Book Antiqua"/>
                <a:ea typeface="Book Antiqua"/>
                <a:cs typeface="Book Antiqua"/>
                <a:sym typeface="Book Antiqua"/>
              </a:rPr>
              <a:t>        5) Area_E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  <a:p>
            <a:pPr marL="91440" lvl="0" indent="-1270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Char char="❖"/>
            </a:pPr>
            <a:r>
              <a:rPr lang="en-IN" b="1">
                <a:latin typeface="Book Antiqua"/>
                <a:ea typeface="Book Antiqua"/>
                <a:cs typeface="Book Antiqua"/>
                <a:sym typeface="Book Antiqua"/>
              </a:rPr>
              <a:t>       The revenue is driven by a high number of orders. </a:t>
            </a:r>
            <a:endParaRPr/>
          </a:p>
          <a:p>
            <a:pPr marL="9144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None/>
            </a:pP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654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"/>
          <p:cNvSpPr txBox="1">
            <a:spLocks noGrp="1"/>
          </p:cNvSpPr>
          <p:nvPr>
            <p:ph type="body" idx="1"/>
          </p:nvPr>
        </p:nvSpPr>
        <p:spPr>
          <a:xfrm>
            <a:off x="1097280" y="884903"/>
            <a:ext cx="10058400" cy="4984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IN"/>
              <a:t> </a:t>
            </a:r>
            <a:r>
              <a:rPr lang="en-IN" b="1" u="sng">
                <a:latin typeface="Book Antiqua"/>
                <a:ea typeface="Book Antiqua"/>
                <a:cs typeface="Book Antiqua"/>
                <a:sym typeface="Book Antiqua"/>
              </a:rPr>
              <a:t>Identifying Order Density by City Using a Heat Map</a:t>
            </a:r>
            <a:endParaRPr/>
          </a:p>
        </p:txBody>
      </p:sp>
      <p:sp>
        <p:nvSpPr>
          <p:cNvPr id="247" name="Google Shape;247;p14"/>
          <p:cNvSpPr txBox="1">
            <a:spLocks noGrp="1"/>
          </p:cNvSpPr>
          <p:nvPr>
            <p:ph type="title"/>
          </p:nvPr>
        </p:nvSpPr>
        <p:spPr>
          <a:xfrm>
            <a:off x="1096963" y="287339"/>
            <a:ext cx="10058400" cy="528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Geo"/>
              <a:buNone/>
            </a:pPr>
            <a:r>
              <a:rPr lang="en-IN"/>
              <a:t>                                     </a:t>
            </a:r>
            <a:r>
              <a:rPr lang="en-IN" b="1" u="sng"/>
              <a:t>Task 7</a:t>
            </a:r>
            <a:endParaRPr/>
          </a:p>
        </p:txBody>
      </p:sp>
      <p:pic>
        <p:nvPicPr>
          <p:cNvPr id="248" name="Google Shape;24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07690"/>
            <a:ext cx="12192000" cy="5550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"/>
          <p:cNvSpPr txBox="1">
            <a:spLocks noGrp="1"/>
          </p:cNvSpPr>
          <p:nvPr>
            <p:ph type="body" idx="1"/>
          </p:nvPr>
        </p:nvSpPr>
        <p:spPr>
          <a:xfrm>
            <a:off x="1097280" y="0"/>
            <a:ext cx="10058400" cy="586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None/>
            </a:pPr>
            <a:endParaRPr/>
          </a:p>
          <a:p>
            <a:pPr marL="9144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None/>
            </a:pPr>
            <a:endParaRPr/>
          </a:p>
          <a:p>
            <a:pPr marL="91440" lvl="0" indent="-1270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Char char="❖"/>
            </a:pPr>
            <a:r>
              <a:rPr lang="en-IN"/>
              <a:t> </a:t>
            </a:r>
            <a:r>
              <a:rPr lang="en-IN" sz="2400" b="1">
                <a:latin typeface="Book Antiqua"/>
                <a:ea typeface="Book Antiqua"/>
                <a:cs typeface="Book Antiqua"/>
                <a:sym typeface="Book Antiqua"/>
              </a:rPr>
              <a:t>Mumbai has  the highest orders but the supply is more where there is no demand.</a:t>
            </a:r>
            <a:endParaRPr/>
          </a:p>
          <a:p>
            <a:pPr marL="9144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❖"/>
            </a:pPr>
            <a:r>
              <a:rPr lang="en-IN" sz="2400" b="1">
                <a:latin typeface="Book Antiqua"/>
                <a:ea typeface="Book Antiqua"/>
                <a:cs typeface="Book Antiqua"/>
                <a:sym typeface="Book Antiqua"/>
              </a:rPr>
              <a:t> Delhi has more demand but does not meet its requirements. </a:t>
            </a:r>
            <a:endParaRPr/>
          </a:p>
          <a:p>
            <a:pPr marL="9144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❖"/>
            </a:pPr>
            <a:r>
              <a:rPr lang="en-IN" sz="2400" b="1">
                <a:latin typeface="Book Antiqua"/>
                <a:ea typeface="Book Antiqua"/>
                <a:cs typeface="Book Antiqua"/>
                <a:sym typeface="Book Antiqua"/>
              </a:rPr>
              <a:t> Bangalore, Kolkata and Chennai are stable where supply  satisfies the customer’s demands. </a:t>
            </a:r>
            <a:endParaRPr/>
          </a:p>
          <a:p>
            <a:pPr marL="9144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❖"/>
            </a:pPr>
            <a:r>
              <a:rPr lang="en-IN" sz="2400" b="1">
                <a:latin typeface="Book Antiqua"/>
                <a:ea typeface="Book Antiqua"/>
                <a:cs typeface="Book Antiqua"/>
                <a:sym typeface="Book Antiqua"/>
              </a:rPr>
              <a:t> Overall Mumbai has slightly lower utilization per outlet, possibly due to oversupply or uneven distribution.</a:t>
            </a:r>
            <a:endParaRPr/>
          </a:p>
          <a:p>
            <a:pPr marL="9144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❖"/>
            </a:pPr>
            <a:r>
              <a:rPr lang="en-IN" sz="2400" b="1">
                <a:latin typeface="Book Antiqua"/>
                <a:ea typeface="Book Antiqua"/>
                <a:cs typeface="Book Antiqua"/>
                <a:sym typeface="Book Antiqua"/>
              </a:rPr>
              <a:t> whereas Delhi has High demand but limited supply. </a:t>
            </a:r>
            <a:endParaRPr/>
          </a:p>
          <a:p>
            <a:pPr marL="9144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"/>
          <p:cNvSpPr txBox="1">
            <a:spLocks noGrp="1"/>
          </p:cNvSpPr>
          <p:nvPr>
            <p:ph type="body" idx="1"/>
          </p:nvPr>
        </p:nvSpPr>
        <p:spPr>
          <a:xfrm>
            <a:off x="1097280" y="698091"/>
            <a:ext cx="10058400" cy="517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IN" b="1">
                <a:latin typeface="Book Antiqua"/>
                <a:ea typeface="Book Antiqua"/>
                <a:cs typeface="Book Antiqua"/>
                <a:sym typeface="Book Antiqua"/>
              </a:rPr>
              <a:t>                              </a:t>
            </a:r>
            <a:r>
              <a:rPr lang="en-IN" sz="2400" b="1" u="sng">
                <a:latin typeface="Book Antiqua"/>
                <a:ea typeface="Book Antiqua"/>
                <a:cs typeface="Book Antiqua"/>
                <a:sym typeface="Book Antiqua"/>
              </a:rPr>
              <a:t>Displaying key business performance metrics</a:t>
            </a:r>
            <a:endParaRPr/>
          </a:p>
        </p:txBody>
      </p:sp>
      <p:sp>
        <p:nvSpPr>
          <p:cNvPr id="259" name="Google Shape;259;p16"/>
          <p:cNvSpPr txBox="1">
            <a:spLocks noGrp="1"/>
          </p:cNvSpPr>
          <p:nvPr>
            <p:ph type="title"/>
          </p:nvPr>
        </p:nvSpPr>
        <p:spPr>
          <a:xfrm>
            <a:off x="1096963" y="287339"/>
            <a:ext cx="10058400" cy="410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Geo"/>
              <a:buNone/>
            </a:pPr>
            <a:r>
              <a:rPr lang="en-IN"/>
              <a:t>                                     </a:t>
            </a:r>
            <a:r>
              <a:rPr lang="en-IN" b="1" u="sng"/>
              <a:t>Task 8</a:t>
            </a:r>
            <a:endParaRPr/>
          </a:p>
        </p:txBody>
      </p:sp>
      <p:pic>
        <p:nvPicPr>
          <p:cNvPr id="260" name="Google Shape;26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48697"/>
            <a:ext cx="12192000" cy="5609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"/>
          <p:cNvSpPr txBox="1">
            <a:spLocks noGrp="1"/>
          </p:cNvSpPr>
          <p:nvPr>
            <p:ph type="body" idx="1"/>
          </p:nvPr>
        </p:nvSpPr>
        <p:spPr>
          <a:xfrm>
            <a:off x="491613" y="648929"/>
            <a:ext cx="11425084" cy="522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IN">
                <a:latin typeface="Book Antiqua"/>
                <a:ea typeface="Book Antiqua"/>
                <a:cs typeface="Book Antiqua"/>
                <a:sym typeface="Book Antiqua"/>
              </a:rPr>
              <a:t>                </a:t>
            </a:r>
            <a:r>
              <a:rPr lang="en-IN" b="1" u="sng">
                <a:latin typeface="Book Antiqua"/>
                <a:ea typeface="Book Antiqua"/>
                <a:cs typeface="Book Antiqua"/>
                <a:sym typeface="Book Antiqua"/>
              </a:rPr>
              <a:t>Created a structured table summarizing restaurant-wise sales performance</a:t>
            </a:r>
            <a:endParaRPr/>
          </a:p>
          <a:p>
            <a:pPr marL="9144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❖"/>
            </a:pPr>
            <a:r>
              <a:rPr lang="en-IN" sz="2400" b="1">
                <a:latin typeface="Book Antiqua"/>
                <a:ea typeface="Book Antiqua"/>
                <a:cs typeface="Book Antiqua"/>
                <a:sym typeface="Book Antiqua"/>
              </a:rPr>
              <a:t>  </a:t>
            </a:r>
            <a:r>
              <a:rPr lang="en-IN" sz="2400" b="1"/>
              <a:t>Applied  sorting and conditional formatting to key features required.</a:t>
            </a:r>
            <a:endParaRPr/>
          </a:p>
          <a:p>
            <a:pPr marL="91440" lvl="0" indent="-1524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Noto Sans Symbols"/>
              <a:buChar char="❖"/>
            </a:pPr>
            <a:r>
              <a:rPr lang="en-IN" sz="2400" b="1"/>
              <a:t> Enabled filters to fields wherever required.</a:t>
            </a:r>
            <a:endParaRPr/>
          </a:p>
        </p:txBody>
      </p:sp>
      <p:sp>
        <p:nvSpPr>
          <p:cNvPr id="266" name="Google Shape;266;p17"/>
          <p:cNvSpPr txBox="1">
            <a:spLocks noGrp="1"/>
          </p:cNvSpPr>
          <p:nvPr>
            <p:ph type="title"/>
          </p:nvPr>
        </p:nvSpPr>
        <p:spPr>
          <a:xfrm>
            <a:off x="678426" y="108156"/>
            <a:ext cx="10476937" cy="54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Geo"/>
              <a:buNone/>
            </a:pPr>
            <a:r>
              <a:rPr lang="en-IN"/>
              <a:t>                                     </a:t>
            </a:r>
            <a:r>
              <a:rPr lang="en-IN" b="1" u="sng"/>
              <a:t>Task 9</a:t>
            </a:r>
            <a:endParaRPr/>
          </a:p>
        </p:txBody>
      </p:sp>
      <p:pic>
        <p:nvPicPr>
          <p:cNvPr id="267" name="Google Shape;26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8274"/>
            <a:ext cx="12192000" cy="4920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"/>
          <p:cNvSpPr txBox="1">
            <a:spLocks noGrp="1"/>
          </p:cNvSpPr>
          <p:nvPr>
            <p:ph type="body" idx="1"/>
          </p:nvPr>
        </p:nvSpPr>
        <p:spPr>
          <a:xfrm>
            <a:off x="157316" y="619433"/>
            <a:ext cx="11965858" cy="5249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524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IN" sz="2400" b="1">
                <a:latin typeface="Book Antiqua"/>
                <a:ea typeface="Book Antiqua"/>
                <a:cs typeface="Book Antiqua"/>
                <a:sym typeface="Book Antiqua"/>
              </a:rPr>
              <a:t>            Created a fully interactive dashboard combining all previous visualizations for   a complete business overview</a:t>
            </a:r>
            <a:r>
              <a:rPr lang="en-IN" b="1">
                <a:latin typeface="Book Antiqua"/>
                <a:ea typeface="Book Antiqua"/>
                <a:cs typeface="Book Antiqua"/>
                <a:sym typeface="Book Antiqua"/>
              </a:rPr>
              <a:t>.</a:t>
            </a:r>
            <a:endParaRPr/>
          </a:p>
          <a:p>
            <a:pPr marL="9144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273" name="Google Shape;273;p18"/>
          <p:cNvSpPr txBox="1">
            <a:spLocks noGrp="1"/>
          </p:cNvSpPr>
          <p:nvPr>
            <p:ph type="title"/>
          </p:nvPr>
        </p:nvSpPr>
        <p:spPr>
          <a:xfrm>
            <a:off x="1096963" y="287339"/>
            <a:ext cx="10058400" cy="332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Geo"/>
              <a:buNone/>
            </a:pPr>
            <a:r>
              <a:rPr lang="en-IN"/>
              <a:t>                                     </a:t>
            </a:r>
            <a:r>
              <a:rPr lang="en-IN" b="1" u="sng"/>
              <a:t>Task 10</a:t>
            </a:r>
            <a:endParaRPr/>
          </a:p>
        </p:txBody>
      </p:sp>
      <p:pic>
        <p:nvPicPr>
          <p:cNvPr id="274" name="Google Shape;27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5510"/>
            <a:ext cx="12191999" cy="5879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"/>
          <p:cNvSpPr txBox="1">
            <a:spLocks noGrp="1"/>
          </p:cNvSpPr>
          <p:nvPr>
            <p:ph type="title"/>
          </p:nvPr>
        </p:nvSpPr>
        <p:spPr>
          <a:xfrm>
            <a:off x="314625" y="-258450"/>
            <a:ext cx="10841100" cy="111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Geo"/>
              <a:buNone/>
            </a:pPr>
            <a:r>
              <a:rPr lang="en-IN" dirty="0"/>
              <a:t>                                </a:t>
            </a:r>
            <a:r>
              <a:rPr lang="en-IN" u="sng" dirty="0"/>
              <a:t>Business Insights </a:t>
            </a:r>
            <a:endParaRPr dirty="0"/>
          </a:p>
        </p:txBody>
      </p:sp>
      <p:sp>
        <p:nvSpPr>
          <p:cNvPr id="280" name="Google Shape;280;p19"/>
          <p:cNvSpPr txBox="1">
            <a:spLocks noGrp="1"/>
          </p:cNvSpPr>
          <p:nvPr>
            <p:ph type="body" idx="1"/>
          </p:nvPr>
        </p:nvSpPr>
        <p:spPr>
          <a:xfrm>
            <a:off x="314625" y="857774"/>
            <a:ext cx="10841100" cy="5142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Char char="❖"/>
            </a:pPr>
            <a:r>
              <a:rPr lang="en-IN" dirty="0"/>
              <a:t>   </a:t>
            </a:r>
            <a:r>
              <a:rPr lang="en-IN" sz="2800" b="1" dirty="0">
                <a:solidFill>
                  <a:srgbClr val="C00000"/>
                </a:solidFill>
              </a:rPr>
              <a:t>Mumbai Leads in both revenue and orders volume but has oversupply, lower utilization per outlet. </a:t>
            </a:r>
            <a:endParaRPr dirty="0"/>
          </a:p>
          <a:p>
            <a:pPr marL="91440" lvl="0" indent="-1778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Char char="❖"/>
            </a:pPr>
            <a:r>
              <a:rPr lang="en-IN" sz="2800" b="1" dirty="0">
                <a:solidFill>
                  <a:srgbClr val="C00000"/>
                </a:solidFill>
              </a:rPr>
              <a:t>Delhi has highest orders per restaurant (30.7).</a:t>
            </a:r>
          </a:p>
          <a:p>
            <a:pPr marL="91440" lvl="0" indent="-1778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Char char="❖"/>
            </a:pPr>
            <a:r>
              <a:rPr lang="en-IN" sz="2800" b="1" dirty="0">
                <a:solidFill>
                  <a:srgbClr val="C00000"/>
                </a:solidFill>
              </a:rPr>
              <a:t>Bangalore is the best performer  having 3/5 under the top 5 sales generating  restaurants with a balance of supply to the customer demand .</a:t>
            </a:r>
            <a:endParaRPr dirty="0"/>
          </a:p>
          <a:p>
            <a:pPr marL="91440" lvl="0" indent="-1778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Char char="❖"/>
            </a:pPr>
            <a:r>
              <a:rPr lang="en-IN" sz="2800" b="1" dirty="0">
                <a:solidFill>
                  <a:srgbClr val="C00000"/>
                </a:solidFill>
              </a:rPr>
              <a:t> Kolkata and Chennai(least revenue)  needs to Maintain the supply and improvise and monitor the growth.</a:t>
            </a:r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dirty="0"/>
          </a:p>
          <a:p>
            <a:pPr marL="9144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None/>
            </a:pP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>
          <a:extLst>
            <a:ext uri="{FF2B5EF4-FFF2-40B4-BE49-F238E27FC236}">
              <a16:creationId xmlns:a16="http://schemas.microsoft.com/office/drawing/2014/main" id="{629E257E-BC6F-DBE7-91D2-C1028C9D4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">
            <a:extLst>
              <a:ext uri="{FF2B5EF4-FFF2-40B4-BE49-F238E27FC236}">
                <a16:creationId xmlns:a16="http://schemas.microsoft.com/office/drawing/2014/main" id="{5FF9C00D-B8CA-6E05-7945-BEFCCCFAB5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7505" y="335560"/>
            <a:ext cx="10794998" cy="5614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lvl="0" indent="-457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Wingdings" panose="05000000000000000000" pitchFamily="2" charset="2"/>
              <a:buChar char="v"/>
            </a:pPr>
            <a:r>
              <a:rPr lang="en-IN" sz="2800" b="1" u="sng" dirty="0">
                <a:solidFill>
                  <a:schemeClr val="tx1"/>
                </a:solidFill>
              </a:rPr>
              <a:t>Top cuisines by city 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</a:pPr>
            <a:endParaRPr lang="en-IN" sz="2800" b="1" u="sng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</a:pPr>
            <a:r>
              <a:rPr lang="en-IN" sz="2800" b="1" dirty="0">
                <a:solidFill>
                  <a:schemeClr val="tx1"/>
                </a:solidFill>
              </a:rPr>
              <a:t>      </a:t>
            </a:r>
            <a:r>
              <a:rPr lang="en-IN" sz="2800" dirty="0">
                <a:solidFill>
                  <a:srgbClr val="C00000"/>
                </a:solidFill>
              </a:rPr>
              <a:t>Thai in Mumbai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</a:pPr>
            <a:r>
              <a:rPr lang="en-IN" sz="2800" dirty="0">
                <a:solidFill>
                  <a:srgbClr val="C00000"/>
                </a:solidFill>
              </a:rPr>
              <a:t>       Mexican in Chennai/Bangalore.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</a:pPr>
            <a:r>
              <a:rPr lang="en-IN" sz="2800" dirty="0">
                <a:solidFill>
                  <a:srgbClr val="C00000"/>
                </a:solidFill>
              </a:rPr>
              <a:t>       Italian in Delhi/ Kolkata. 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</a:pPr>
            <a:endParaRPr lang="en-IN" sz="2800" dirty="0">
              <a:solidFill>
                <a:srgbClr val="C00000"/>
              </a:solidFill>
            </a:endParaRPr>
          </a:p>
          <a:p>
            <a:pPr lvl="0" indent="-457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rgbClr val="C00000"/>
                </a:solidFill>
              </a:rPr>
              <a:t>  There was  High order density in Area A  and Area B. 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</a:pPr>
            <a:r>
              <a:rPr lang="en-IN" sz="2800" dirty="0">
                <a:solidFill>
                  <a:srgbClr val="C00000"/>
                </a:solidFill>
              </a:rPr>
              <a:t>    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</a:pPr>
            <a:r>
              <a:rPr lang="en-IN" sz="2800" b="1" u="sng" dirty="0">
                <a:solidFill>
                  <a:schemeClr val="tx1"/>
                </a:solidFill>
              </a:rPr>
              <a:t>   </a:t>
            </a:r>
          </a:p>
          <a:p>
            <a:pPr marL="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endParaRPr dirty="0">
              <a:solidFill>
                <a:schemeClr val="tx1"/>
              </a:solidFill>
            </a:endParaRPr>
          </a:p>
          <a:p>
            <a:pPr marL="91440" lvl="0" indent="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Noto Sans Symbols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9101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>
          <a:extLst>
            <a:ext uri="{FF2B5EF4-FFF2-40B4-BE49-F238E27FC236}">
              <a16:creationId xmlns:a16="http://schemas.microsoft.com/office/drawing/2014/main" id="{0D5D89C0-429C-30CB-69A5-22681AB10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">
            <a:extLst>
              <a:ext uri="{FF2B5EF4-FFF2-40B4-BE49-F238E27FC236}">
                <a16:creationId xmlns:a16="http://schemas.microsoft.com/office/drawing/2014/main" id="{2D955C3F-31DA-A269-6FCF-017CF3FF5B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4625" y="-190576"/>
            <a:ext cx="10841100" cy="886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Geo"/>
              <a:buNone/>
            </a:pPr>
            <a:r>
              <a:rPr lang="en-IN" dirty="0"/>
              <a:t>                               </a:t>
            </a:r>
            <a:r>
              <a:rPr lang="en-IN" b="1" u="sng" dirty="0"/>
              <a:t>Recommendations</a:t>
            </a:r>
            <a:endParaRPr b="1" dirty="0"/>
          </a:p>
        </p:txBody>
      </p:sp>
      <p:sp>
        <p:nvSpPr>
          <p:cNvPr id="280" name="Google Shape;280;p19">
            <a:extLst>
              <a:ext uri="{FF2B5EF4-FFF2-40B4-BE49-F238E27FC236}">
                <a16:creationId xmlns:a16="http://schemas.microsoft.com/office/drawing/2014/main" id="{6E3187E7-31DD-A5F4-4721-ADD12FE860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4283" y="696285"/>
            <a:ext cx="10761442" cy="592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lvl="0" indent="-4572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C00000"/>
                </a:solidFill>
              </a:rPr>
              <a:t> Mumbai  must  have targeted promotions to address oversupply and optimize the visibility.</a:t>
            </a:r>
            <a:endParaRPr dirty="0"/>
          </a:p>
          <a:p>
            <a:pPr marL="91440" lvl="0" indent="-177800" algn="l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oto Sans Symbols"/>
              <a:buChar char="❖"/>
            </a:pPr>
            <a:r>
              <a:rPr lang="en-IN" sz="2800" b="1" dirty="0">
                <a:solidFill>
                  <a:srgbClr val="C00000"/>
                </a:solidFill>
              </a:rPr>
              <a:t>Delhi has to scope to Expand restaurants and boost the sales to meet the unmet demand. </a:t>
            </a:r>
          </a:p>
          <a:p>
            <a:pPr marL="91440" indent="-177800">
              <a:spcBef>
                <a:spcPts val="1400"/>
              </a:spcBef>
              <a:buClr>
                <a:srgbClr val="002060"/>
              </a:buClr>
              <a:buSzPts val="2800"/>
              <a:buFont typeface="Noto Sans Symbols"/>
              <a:buChar char="❖"/>
            </a:pPr>
            <a:r>
              <a:rPr lang="en-US" sz="2800" b="1" dirty="0">
                <a:solidFill>
                  <a:srgbClr val="C00000"/>
                </a:solidFill>
              </a:rPr>
              <a:t>Highlighting  Balanced growth in Bangalore ,as a model city for performance. </a:t>
            </a:r>
            <a:endParaRPr lang="en-US" sz="2800" dirty="0"/>
          </a:p>
          <a:p>
            <a:pPr marL="91440" lvl="0" indent="-177800">
              <a:spcBef>
                <a:spcPts val="1400"/>
              </a:spcBef>
              <a:buClr>
                <a:srgbClr val="002060"/>
              </a:buClr>
              <a:buSzPts val="2800"/>
              <a:buFont typeface="Noto Sans Symbols"/>
              <a:buChar char="❖"/>
            </a:pPr>
            <a:r>
              <a:rPr lang="en-IN" dirty="0"/>
              <a:t> 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Seasonal Strategies (Diwali/ holidays) must be implemented to maximize sales.  </a:t>
            </a:r>
            <a:endParaRPr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21375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Custom 40">
      <a:dk1>
        <a:srgbClr val="000000"/>
      </a:dk1>
      <a:lt1>
        <a:srgbClr val="FFFFFF"/>
      </a:lt1>
      <a:dk2>
        <a:srgbClr val="545D57"/>
      </a:dk2>
      <a:lt2>
        <a:srgbClr val="EBEBE8"/>
      </a:lt2>
      <a:accent1>
        <a:srgbClr val="579858"/>
      </a:accent1>
      <a:accent2>
        <a:srgbClr val="ED583E"/>
      </a:accent2>
      <a:accent3>
        <a:srgbClr val="D3BA59"/>
      </a:accent3>
      <a:accent4>
        <a:srgbClr val="4C94AC"/>
      </a:accent4>
      <a:accent5>
        <a:srgbClr val="A09E84"/>
      </a:accent5>
      <a:accent6>
        <a:srgbClr val="FC7D4A"/>
      </a:accent6>
      <a:hlink>
        <a:srgbClr val="04A2DA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4382</TotalTime>
  <Words>1142</Words>
  <Application>Microsoft Office PowerPoint</Application>
  <PresentationFormat>Widescreen</PresentationFormat>
  <Paragraphs>160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Geo</vt:lpstr>
      <vt:lpstr>Wingdings</vt:lpstr>
      <vt:lpstr>Calibri</vt:lpstr>
      <vt:lpstr>Book Antiqua</vt:lpstr>
      <vt:lpstr>Noto Sans Symbols</vt:lpstr>
      <vt:lpstr>Arial</vt:lpstr>
      <vt:lpstr>RetrospectVTI</vt:lpstr>
      <vt:lpstr>RetrospectVTI</vt:lpstr>
      <vt:lpstr>Zomato order  &amp;  restaurant analysis using Power BI</vt:lpstr>
      <vt:lpstr>               Sql tasks Task1</vt:lpstr>
      <vt:lpstr>                         Task2</vt:lpstr>
      <vt:lpstr>                    To Count the number of restaurants in each city. </vt:lpstr>
      <vt:lpstr>Finding the top 5 cities with the highest number of orders.</vt:lpstr>
      <vt:lpstr>   Total revenue generated by each restaurant. </vt:lpstr>
      <vt:lpstr>○   Find the average order amount for each city. </vt:lpstr>
      <vt:lpstr> the top 5 restaurants with the highest total sales. </vt:lpstr>
      <vt:lpstr>Join the Zomato_Orders and Zomato_Restaurants</vt:lpstr>
      <vt:lpstr>Then transformed the data into the Excel file after data cleaning and using it in the power Bi . </vt:lpstr>
      <vt:lpstr>                                                                                 Task 1  </vt:lpstr>
      <vt:lpstr>PowerPoint Presentation</vt:lpstr>
      <vt:lpstr>                                     Task 2</vt:lpstr>
      <vt:lpstr>PowerPoint Presentation</vt:lpstr>
      <vt:lpstr>                                        Task 3</vt:lpstr>
      <vt:lpstr>PowerPoint Presentation</vt:lpstr>
      <vt:lpstr>                                     Task 4</vt:lpstr>
      <vt:lpstr>PowerPoint Presentation</vt:lpstr>
      <vt:lpstr>                                     Task 5</vt:lpstr>
      <vt:lpstr>PowerPoint Presentation</vt:lpstr>
      <vt:lpstr>                                     Task 6</vt:lpstr>
      <vt:lpstr>PowerPoint Presentation</vt:lpstr>
      <vt:lpstr>                                     Task 7</vt:lpstr>
      <vt:lpstr>PowerPoint Presentation</vt:lpstr>
      <vt:lpstr>                                     Task 8</vt:lpstr>
      <vt:lpstr>                                     Task 9</vt:lpstr>
      <vt:lpstr>                                     Task 10</vt:lpstr>
      <vt:lpstr>                                Business Insights </vt:lpstr>
      <vt:lpstr>PowerPoint Presentation</vt:lpstr>
      <vt:lpstr>                              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Nithya Boopathy</dc:creator>
  <cp:lastModifiedBy>Nithya Boopathy</cp:lastModifiedBy>
  <cp:revision>5</cp:revision>
  <dcterms:created xsi:type="dcterms:W3CDTF">2025-12-26T15:24:29Z</dcterms:created>
  <dcterms:modified xsi:type="dcterms:W3CDTF">2026-06-27T15:05:51Z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